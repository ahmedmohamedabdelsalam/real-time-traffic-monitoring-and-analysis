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303" r:id="rId4"/>
    <p:sldId id="296" r:id="rId5"/>
    <p:sldId id="297" r:id="rId6"/>
    <p:sldId id="304" r:id="rId7"/>
    <p:sldId id="305" r:id="rId8"/>
    <p:sldId id="302" r:id="rId9"/>
    <p:sldId id="306" r:id="rId10"/>
    <p:sldId id="298" r:id="rId11"/>
    <p:sldId id="299" r:id="rId12"/>
    <p:sldId id="300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17" r:id="rId21"/>
    <p:sldId id="316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259" r:id="rId31"/>
    <p:sldId id="260" r:id="rId32"/>
    <p:sldId id="311" r:id="rId33"/>
    <p:sldId id="312" r:id="rId34"/>
    <p:sldId id="301" r:id="rId35"/>
    <p:sldId id="313" r:id="rId36"/>
    <p:sldId id="314" r:id="rId37"/>
    <p:sldId id="315" r:id="rId38"/>
    <p:sldId id="292" r:id="rId39"/>
  </p:sldIdLst>
  <p:sldSz cx="18288000" cy="10287000"/>
  <p:notesSz cx="6858000" cy="9144000"/>
  <p:embeddedFontLst>
    <p:embeddedFont>
      <p:font typeface="Archivo Black" panose="020B0604020202020204" charset="0"/>
      <p:regular r:id="rId41"/>
    </p:embeddedFont>
    <p:embeddedFont>
      <p:font typeface="Arial Black" panose="020B0A04020102020204" pitchFamily="34" charset="0"/>
      <p:bold r:id="rId42"/>
    </p:embeddedFont>
    <p:embeddedFont>
      <p:font typeface="Arial Bold" panose="020B0704020202020204" pitchFamily="34" charset="0"/>
      <p:regular r:id="rId43"/>
      <p:bold r:id="rId44"/>
    </p:embeddedFont>
    <p:embeddedFont>
      <p:font typeface="Britannic Bold" panose="020B0903060703020204" pitchFamily="34" charset="0"/>
      <p:regular r:id="rId45"/>
    </p:embeddedFont>
    <p:embeddedFont>
      <p:font typeface="Tw Cen MT" panose="020B0602020104020603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22" autoAdjust="0"/>
  </p:normalViewPr>
  <p:slideViewPr>
    <p:cSldViewPr>
      <p:cViewPr varScale="1">
        <p:scale>
          <a:sx n="48" d="100"/>
          <a:sy n="48" d="100"/>
        </p:scale>
        <p:origin x="112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18.10.2024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3890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0338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00087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47154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4429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2131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4668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0175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01982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4811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71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62056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4375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98447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7441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72317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66434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27813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56652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15341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515919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57749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476765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96463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8259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63604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020617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1880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67584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92092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471637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55407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77890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sv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2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16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16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1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1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1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4.xml"/><Relationship Id="rId9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1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1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1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2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52707" y="5018330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357949" y="-5586503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96598" y="141700"/>
            <a:ext cx="3840000" cy="3685452"/>
          </a:xfrm>
          <a:custGeom>
            <a:avLst/>
            <a:gdLst/>
            <a:ahLst/>
            <a:cxnLst/>
            <a:rect l="l" t="t" r="r" b="b"/>
            <a:pathLst>
              <a:path w="3840000" h="3685452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076" t="-8219" r="-46018" b="-6709"/>
            </a:stretch>
          </a:blipFill>
        </p:spPr>
      </p:sp>
      <p:sp>
        <p:nvSpPr>
          <p:cNvPr id="5" name="Freeform 5"/>
          <p:cNvSpPr/>
          <p:nvPr/>
        </p:nvSpPr>
        <p:spPr>
          <a:xfrm rot="-1020085">
            <a:off x="14059006" y="6792480"/>
            <a:ext cx="2374890" cy="2243856"/>
          </a:xfrm>
          <a:custGeom>
            <a:avLst/>
            <a:gdLst/>
            <a:ahLst/>
            <a:cxnLst/>
            <a:rect l="l" t="t" r="r" b="b"/>
            <a:pathLst>
              <a:path w="2374890" h="2243856">
                <a:moveTo>
                  <a:pt x="0" y="0"/>
                </a:moveTo>
                <a:lnTo>
                  <a:pt x="2374890" y="0"/>
                </a:lnTo>
                <a:lnTo>
                  <a:pt x="2374890" y="2243856"/>
                </a:lnTo>
                <a:lnTo>
                  <a:pt x="0" y="2243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968" r="-3100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87600" y="380380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15550" y="78142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77200" y="13753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152297">
            <a:off x="13154100" y="914274"/>
            <a:ext cx="3295654" cy="2140300"/>
          </a:xfrm>
          <a:custGeom>
            <a:avLst/>
            <a:gdLst/>
            <a:ahLst/>
            <a:cxnLst/>
            <a:rect l="l" t="t" r="r" b="b"/>
            <a:pathLst>
              <a:path w="3295654" h="2140300">
                <a:moveTo>
                  <a:pt x="0" y="0"/>
                </a:moveTo>
                <a:lnTo>
                  <a:pt x="3295654" y="0"/>
                </a:lnTo>
                <a:lnTo>
                  <a:pt x="3295654" y="2140300"/>
                </a:lnTo>
                <a:lnTo>
                  <a:pt x="0" y="214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20" t="-9509" r="-12211" b="-995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77324" y="2337055"/>
            <a:ext cx="9238401" cy="59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27"/>
              </a:lnSpc>
            </a:pPr>
            <a:r>
              <a:rPr lang="en-US" sz="9600" dirty="0">
                <a:solidFill>
                  <a:schemeClr val="bg1"/>
                </a:solidFill>
                <a:latin typeface="Arial Black" panose="020B0A04020102020204" pitchFamily="34" charset="0"/>
              </a:rPr>
              <a:t>Real-Time Traffic Monitoring and Analysis</a:t>
            </a:r>
            <a:endParaRPr lang="en-US" sz="8855" dirty="0">
              <a:solidFill>
                <a:schemeClr val="bg1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3767"/>
              </a:lnSpc>
            </a:pPr>
            <a:endParaRPr lang="en-US" sz="3923" dirty="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4743" y="-5040596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721" y="5482480"/>
            <a:ext cx="3479904" cy="3561208"/>
          </a:xfrm>
          <a:custGeom>
            <a:avLst/>
            <a:gdLst/>
            <a:ahLst/>
            <a:cxnLst/>
            <a:rect l="l" t="t" r="r" b="b"/>
            <a:pathLst>
              <a:path w="3479904" h="3561208">
                <a:moveTo>
                  <a:pt x="0" y="0"/>
                </a:moveTo>
                <a:lnTo>
                  <a:pt x="3479904" y="0"/>
                </a:lnTo>
                <a:lnTo>
                  <a:pt x="3479904" y="3561208"/>
                </a:lnTo>
                <a:lnTo>
                  <a:pt x="0" y="3561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088" t="-8809" r="-53148" b="-619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83436" y="294902"/>
            <a:ext cx="840675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id="5" name="Freeform 5"/>
          <p:cNvSpPr/>
          <p:nvPr/>
        </p:nvSpPr>
        <p:spPr>
          <a:xfrm>
            <a:off x="1340211" y="875133"/>
            <a:ext cx="3840000" cy="3685452"/>
          </a:xfrm>
          <a:custGeom>
            <a:avLst/>
            <a:gdLst/>
            <a:ahLst/>
            <a:cxnLst/>
            <a:rect l="l" t="t" r="r" b="b"/>
            <a:pathLst>
              <a:path w="3840000" h="3685452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076" t="-8219" r="-46018" b="-6709"/>
            </a:stretch>
          </a:blipFill>
        </p:spPr>
      </p:sp>
      <p:sp>
        <p:nvSpPr>
          <p:cNvPr id="6" name="Freeform 6"/>
          <p:cNvSpPr/>
          <p:nvPr/>
        </p:nvSpPr>
        <p:spPr>
          <a:xfrm rot="-1152297">
            <a:off x="2682153" y="2474085"/>
            <a:ext cx="3295654" cy="2140300"/>
          </a:xfrm>
          <a:custGeom>
            <a:avLst/>
            <a:gdLst/>
            <a:ahLst/>
            <a:cxnLst/>
            <a:rect l="l" t="t" r="r" b="b"/>
            <a:pathLst>
              <a:path w="3295654" h="2140300">
                <a:moveTo>
                  <a:pt x="0" y="0"/>
                </a:moveTo>
                <a:lnTo>
                  <a:pt x="3295654" y="0"/>
                </a:lnTo>
                <a:lnTo>
                  <a:pt x="3295654" y="2140300"/>
                </a:lnTo>
                <a:lnTo>
                  <a:pt x="0" y="214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720" t="-9509" r="-12211" b="-9958"/>
            </a:stretch>
          </a:blipFill>
        </p:spPr>
      </p:sp>
      <p:sp>
        <p:nvSpPr>
          <p:cNvPr id="7" name="Freeform 7"/>
          <p:cNvSpPr/>
          <p:nvPr/>
        </p:nvSpPr>
        <p:spPr>
          <a:xfrm rot="1220421">
            <a:off x="1201830" y="5899270"/>
            <a:ext cx="3105150" cy="2781702"/>
          </a:xfrm>
          <a:custGeom>
            <a:avLst/>
            <a:gdLst/>
            <a:ahLst/>
            <a:cxnLst/>
            <a:rect l="l" t="t" r="r" b="b"/>
            <a:pathLst>
              <a:path w="3105150" h="2781702">
                <a:moveTo>
                  <a:pt x="0" y="0"/>
                </a:moveTo>
                <a:lnTo>
                  <a:pt x="3105150" y="0"/>
                </a:lnTo>
                <a:lnTo>
                  <a:pt x="3105150" y="2781702"/>
                </a:lnTo>
                <a:lnTo>
                  <a:pt x="0" y="278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264" r="-34994"/>
            </a:stretch>
          </a:blipFill>
        </p:spPr>
      </p:sp>
      <p:sp>
        <p:nvSpPr>
          <p:cNvPr id="8" name="Freeform 8"/>
          <p:cNvSpPr/>
          <p:nvPr/>
        </p:nvSpPr>
        <p:spPr>
          <a:xfrm rot="3321565">
            <a:off x="5384150" y="7908773"/>
            <a:ext cx="1304400" cy="1232454"/>
          </a:xfrm>
          <a:custGeom>
            <a:avLst/>
            <a:gdLst/>
            <a:ahLst/>
            <a:cxnLst/>
            <a:rect l="l" t="t" r="r" b="b"/>
            <a:pathLst>
              <a:path w="1304400" h="1232454">
                <a:moveTo>
                  <a:pt x="0" y="0"/>
                </a:moveTo>
                <a:lnTo>
                  <a:pt x="1304400" y="0"/>
                </a:lnTo>
                <a:lnTo>
                  <a:pt x="1304400" y="1232454"/>
                </a:lnTo>
                <a:lnTo>
                  <a:pt x="0" y="1232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969" r="-3100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984050" y="41754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07750" y="203530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9">
            <a:extLst>
              <a:ext uri="{FF2B5EF4-FFF2-40B4-BE49-F238E27FC236}">
                <a16:creationId xmlns:a16="http://schemas.microsoft.com/office/drawing/2014/main" id="{132E5583-C768-55AA-8B72-5F8CD9FE6C70}"/>
              </a:ext>
            </a:extLst>
          </p:cNvPr>
          <p:cNvSpPr/>
          <p:nvPr/>
        </p:nvSpPr>
        <p:spPr>
          <a:xfrm>
            <a:off x="16677932" y="8656320"/>
            <a:ext cx="1283836" cy="1335778"/>
          </a:xfrm>
          <a:custGeom>
            <a:avLst/>
            <a:gdLst/>
            <a:ahLst/>
            <a:cxnLst/>
            <a:rect l="l" t="t" r="r" b="b"/>
            <a:pathLst>
              <a:path w="1283836" h="1335778">
                <a:moveTo>
                  <a:pt x="0" y="0"/>
                </a:moveTo>
                <a:lnTo>
                  <a:pt x="1283836" y="0"/>
                </a:lnTo>
                <a:lnTo>
                  <a:pt x="1283836" y="1335778"/>
                </a:lnTo>
                <a:lnTo>
                  <a:pt x="0" y="1335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F62C5-9C22-79EF-DB65-0759D2704AC0}"/>
              </a:ext>
            </a:extLst>
          </p:cNvPr>
          <p:cNvSpPr txBox="1"/>
          <p:nvPr/>
        </p:nvSpPr>
        <p:spPr>
          <a:xfrm>
            <a:off x="6877913" y="2648867"/>
            <a:ext cx="11081084" cy="4844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rtl="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Ahmed Mohamed </a:t>
            </a:r>
            <a:r>
              <a:rPr lang="en-US" sz="40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Abdelsalam</a:t>
            </a: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Sherif </a:t>
            </a:r>
          </a:p>
          <a:p>
            <a:pPr marL="571500" indent="-571500" rtl="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Khaled Taha </a:t>
            </a:r>
            <a:r>
              <a:rPr lang="en-US" sz="40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Taha</a:t>
            </a: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Beheiry</a:t>
            </a:r>
            <a:endParaRPr lang="en-US" sz="400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571500" indent="-571500" rtl="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Mohamed Haitham Ezzat Yamani </a:t>
            </a:r>
            <a:endParaRPr lang="en-US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571500" indent="-571500" rtl="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Maged Mohamed </a:t>
            </a:r>
            <a:r>
              <a:rPr lang="en-US" sz="400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Mohamed</a:t>
            </a:r>
            <a:r>
              <a:rPr lang="en-US" sz="40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Mousa</a:t>
            </a:r>
            <a:endParaRPr lang="en-US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349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681336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10800000" flipV="1">
            <a:off x="2895599" y="1492462"/>
            <a:ext cx="12649201" cy="7006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Britannic Bold" panose="020B0903060703020204" pitchFamily="34" charset="0"/>
                <a:ea typeface="Montserrat Bold"/>
                <a:cs typeface="Montserrat Bold"/>
                <a:sym typeface="Montserrat Bold"/>
              </a:rPr>
              <a:t>Why </a:t>
            </a:r>
            <a:r>
              <a:rPr lang="en-US" sz="8000" dirty="0">
                <a:solidFill>
                  <a:schemeClr val="bg1"/>
                </a:solidFill>
                <a:latin typeface="Britannic Bold" panose="020B0903060703020204" pitchFamily="34" charset="0"/>
              </a:rPr>
              <a:t>Real-Time Traffic Monitoring and Analysis</a:t>
            </a:r>
            <a:endParaRPr lang="en-US" sz="8000" dirty="0">
              <a:solidFill>
                <a:schemeClr val="bg1"/>
              </a:solidFill>
              <a:latin typeface="Britannic Bold" panose="020B0903060703020204" pitchFamily="34" charset="0"/>
              <a:ea typeface="Archivo Black"/>
              <a:cs typeface="Archivo Black"/>
              <a:sym typeface="Archivo Black"/>
            </a:endParaRPr>
          </a:p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Britannic Bold" panose="020B0903060703020204" pitchFamily="34" charset="0"/>
                <a:ea typeface="Montserrat Bold"/>
                <a:cs typeface="Montserrat Bold"/>
                <a:sym typeface="Montserrat Bold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297865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268302">
            <a:off x="-789110" y="8137232"/>
            <a:ext cx="3154428" cy="3041193"/>
          </a:xfrm>
          <a:custGeom>
            <a:avLst/>
            <a:gdLst/>
            <a:ahLst/>
            <a:cxnLst/>
            <a:rect l="l" t="t" r="r" b="b"/>
            <a:pathLst>
              <a:path w="3154428" h="3041193">
                <a:moveTo>
                  <a:pt x="0" y="0"/>
                </a:moveTo>
                <a:lnTo>
                  <a:pt x="3154428" y="0"/>
                </a:lnTo>
                <a:lnTo>
                  <a:pt x="3154428" y="3041193"/>
                </a:lnTo>
                <a:lnTo>
                  <a:pt x="0" y="3041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497" t="-6378" r="-44607" b="-5120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يصفه البعض بـ&quot;ازدحام القرن&quot;.. الطريق الأكثر ازدحامًا بالسيارات يقع في هذا  الزمان والمكان - CNN Arabic">
            <a:extLst>
              <a:ext uri="{FF2B5EF4-FFF2-40B4-BE49-F238E27FC236}">
                <a16:creationId xmlns:a16="http://schemas.microsoft.com/office/drawing/2014/main" id="{7EDDC42C-E30D-2119-C0A1-0745D09F2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28" y="611125"/>
            <a:ext cx="15773400" cy="887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34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050" name="Picture 2" descr="Results of traffic state estimation visualized on the map of the City of Zagreb.">
            <a:extLst>
              <a:ext uri="{FF2B5EF4-FFF2-40B4-BE49-F238E27FC236}">
                <a16:creationId xmlns:a16="http://schemas.microsoft.com/office/drawing/2014/main" id="{51FFBAB8-3C1E-2144-1AC7-7C49D0FB7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7248"/>
            <a:ext cx="16055280" cy="734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228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652FC-2398-98AA-7553-8DE76D320AB7}"/>
              </a:ext>
            </a:extLst>
          </p:cNvPr>
          <p:cNvSpPr txBox="1"/>
          <p:nvPr/>
        </p:nvSpPr>
        <p:spPr>
          <a:xfrm>
            <a:off x="3733800" y="360251"/>
            <a:ext cx="11598442" cy="101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5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 and Data Collection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7A91C-880C-6476-E3E7-7704D9A869E8}"/>
              </a:ext>
            </a:extLst>
          </p:cNvPr>
          <p:cNvSpPr txBox="1"/>
          <p:nvPr/>
        </p:nvSpPr>
        <p:spPr>
          <a:xfrm>
            <a:off x="990600" y="1943100"/>
            <a:ext cx="13427242" cy="482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The database schema includes three key tables: 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Traffic_Sensors</a:t>
            </a: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Traffic_Logs</a:t>
            </a: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Incidents</a:t>
            </a:r>
          </a:p>
        </p:txBody>
      </p:sp>
    </p:spTree>
    <p:extLst>
      <p:ext uri="{BB962C8B-B14F-4D97-AF65-F5344CB8AC3E}">
        <p14:creationId xmlns:p14="http://schemas.microsoft.com/office/powerpoint/2010/main" val="324132601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652FC-2398-98AA-7553-8DE76D320AB7}"/>
              </a:ext>
            </a:extLst>
          </p:cNvPr>
          <p:cNvSpPr txBox="1"/>
          <p:nvPr/>
        </p:nvSpPr>
        <p:spPr>
          <a:xfrm>
            <a:off x="5791200" y="360251"/>
            <a:ext cx="11065042" cy="101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5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Collection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634CD-9839-6E10-0292-83E5E2550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7" y="2416157"/>
            <a:ext cx="1803078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81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4EE4D7-C413-C9BC-5790-CECF0659F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580560"/>
            <a:ext cx="12987163" cy="846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91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4EE4D7-C413-C9BC-5790-CECF0659F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580560"/>
            <a:ext cx="12987163" cy="846152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FCCE547-6187-3018-40AB-1771BCA46E88}"/>
              </a:ext>
            </a:extLst>
          </p:cNvPr>
          <p:cNvSpPr/>
          <p:nvPr/>
        </p:nvSpPr>
        <p:spPr>
          <a:xfrm rot="17792747">
            <a:off x="9000020" y="6848689"/>
            <a:ext cx="2514600" cy="381000"/>
          </a:xfrm>
          <a:prstGeom prst="rightArrow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77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4E617-2CFD-205E-CC14-AAEF1606EF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894300"/>
            <a:ext cx="13030199" cy="79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27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11D40EA-8044-4725-9E6D-F7207B8FC7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632810"/>
            <a:ext cx="14212824" cy="81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13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8BC5E-C5B5-7AAD-ED89-AEC58072D4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24" y="2209800"/>
            <a:ext cx="16389211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1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6B6A-38FE-F6D9-05D3-3056E60E9BEF}"/>
              </a:ext>
            </a:extLst>
          </p:cNvPr>
          <p:cNvSpPr txBox="1">
            <a:spLocks/>
          </p:cNvSpPr>
          <p:nvPr/>
        </p:nvSpPr>
        <p:spPr>
          <a:xfrm>
            <a:off x="4038600" y="462669"/>
            <a:ext cx="9905998" cy="147857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Data Warehouse Schema Overview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D8CA3423-EF11-4E14-83E6-28732F984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71318"/>
            <a:ext cx="7093117" cy="6206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EEAB03-FBAE-3E62-512B-1C737B5B4AD5}"/>
              </a:ext>
            </a:extLst>
          </p:cNvPr>
          <p:cNvSpPr txBox="1"/>
          <p:nvPr/>
        </p:nvSpPr>
        <p:spPr>
          <a:xfrm>
            <a:off x="9069543" y="3086100"/>
            <a:ext cx="8830612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</a:rPr>
              <a:t>Fact Table</a:t>
            </a:r>
            <a:r>
              <a:rPr lang="en-US" sz="25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chemeClr val="bg1"/>
                </a:solidFill>
              </a:rPr>
              <a:t>Traffic_Logs</a:t>
            </a:r>
            <a:r>
              <a:rPr lang="en-US" sz="2500" dirty="0">
                <a:solidFill>
                  <a:schemeClr val="bg1"/>
                </a:solidFill>
              </a:rPr>
              <a:t> table acts as the </a:t>
            </a:r>
            <a:r>
              <a:rPr lang="en-US" sz="2500" b="1" dirty="0">
                <a:solidFill>
                  <a:schemeClr val="bg1"/>
                </a:solidFill>
              </a:rPr>
              <a:t>fact table</a:t>
            </a:r>
            <a:r>
              <a:rPr lang="en-US" sz="2500" dirty="0">
                <a:solidFill>
                  <a:schemeClr val="bg1"/>
                </a:solidFill>
              </a:rPr>
              <a:t>, containing metrics such as the number of vehicles and average speed. These represent the key measurable data points collected from sensors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</a:rPr>
              <a:t>Dimension Tables</a:t>
            </a:r>
            <a:r>
              <a:rPr lang="en-US" sz="25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chemeClr val="bg1"/>
                </a:solidFill>
              </a:rPr>
              <a:t>Traffic_Sensors</a:t>
            </a:r>
            <a:r>
              <a:rPr lang="en-US" sz="2500" dirty="0">
                <a:solidFill>
                  <a:schemeClr val="bg1"/>
                </a:solidFill>
              </a:rPr>
              <a:t>: Serves as a </a:t>
            </a:r>
            <a:r>
              <a:rPr lang="en-US" sz="2500" b="1" dirty="0">
                <a:solidFill>
                  <a:schemeClr val="bg1"/>
                </a:solidFill>
              </a:rPr>
              <a:t>dimension table</a:t>
            </a:r>
            <a:r>
              <a:rPr lang="en-US" sz="2500" dirty="0">
                <a:solidFill>
                  <a:schemeClr val="bg1"/>
                </a:solidFill>
              </a:rPr>
              <a:t>, providing context for the sensor locations, types, and statuses.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</a:rPr>
              <a:t>Incidents</a:t>
            </a:r>
            <a:r>
              <a:rPr lang="en-US" sz="2500" dirty="0">
                <a:solidFill>
                  <a:schemeClr val="bg1"/>
                </a:solidFill>
              </a:rPr>
              <a:t>: Another </a:t>
            </a:r>
            <a:r>
              <a:rPr lang="en-US" sz="2500" b="1" dirty="0">
                <a:solidFill>
                  <a:schemeClr val="bg1"/>
                </a:solidFill>
              </a:rPr>
              <a:t>dimension table</a:t>
            </a:r>
            <a:r>
              <a:rPr lang="en-US" sz="2500" dirty="0">
                <a:solidFill>
                  <a:schemeClr val="bg1"/>
                </a:solidFill>
              </a:rPr>
              <a:t>, offering detailed descriptive information about traffic incidents, such as the number of vehicles involved, fatalities, and conditions at the time.</a:t>
            </a:r>
          </a:p>
          <a:p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71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64D59D-BC61-064E-94E2-A63C13DF2968}"/>
              </a:ext>
            </a:extLst>
          </p:cNvPr>
          <p:cNvSpPr txBox="1">
            <a:spLocks/>
          </p:cNvSpPr>
          <p:nvPr/>
        </p:nvSpPr>
        <p:spPr>
          <a:xfrm>
            <a:off x="4343400" y="19050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Schema Design and Relationships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EEB64F-966F-E6CE-E1A7-528E45160398}"/>
              </a:ext>
            </a:extLst>
          </p:cNvPr>
          <p:cNvSpPr txBox="1">
            <a:spLocks/>
          </p:cNvSpPr>
          <p:nvPr/>
        </p:nvSpPr>
        <p:spPr>
          <a:xfrm>
            <a:off x="1066800" y="1790700"/>
            <a:ext cx="14784388" cy="4073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Fact Table (</a:t>
            </a: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Traffic_Logs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Captures quantitative data (vehicle count, speed) that can be aggregated for different analyses, such as average traffic flow or peak congestion times.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Dimension Tables: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Traffic_Sensors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Describes the context of where the data is collected, including sensor type, city, and status.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Incidents: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Describes additional context, enabling us to correlate traffic conditions with real-world incidents (injuries, weather, etc.).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Relationships: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One-to-many relationship between sensors and logs allows tracking traffic data over time.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link between incidents and sensors enables analysis of traffic behavior surrounding incidents.</a:t>
            </a:r>
          </a:p>
        </p:txBody>
      </p:sp>
    </p:spTree>
    <p:extLst>
      <p:ext uri="{BB962C8B-B14F-4D97-AF65-F5344CB8AC3E}">
        <p14:creationId xmlns:p14="http://schemas.microsoft.com/office/powerpoint/2010/main" val="4984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DE1D64-5219-BB56-CA06-984CF16FBECC}"/>
              </a:ext>
            </a:extLst>
          </p:cNvPr>
          <p:cNvSpPr txBox="1">
            <a:spLocks/>
          </p:cNvSpPr>
          <p:nvPr/>
        </p:nvSpPr>
        <p:spPr>
          <a:xfrm>
            <a:off x="3685178" y="247335"/>
            <a:ext cx="10917643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Benefits of the Warehouse Schema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487CE-BE0F-805A-5B75-B41AF793E689}"/>
              </a:ext>
            </a:extLst>
          </p:cNvPr>
          <p:cNvSpPr txBox="1"/>
          <p:nvPr/>
        </p:nvSpPr>
        <p:spPr>
          <a:xfrm>
            <a:off x="914400" y="1806084"/>
            <a:ext cx="14366132" cy="7494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Centralized Data Repository</a:t>
            </a: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Combines real-time sensor data, traffic logs, and incident reports into a single source of truth.</a:t>
            </a:r>
          </a:p>
          <a:p>
            <a:pPr marL="800100" lvl="1" indent="-34290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Facilitates data consistency and reliability for all traffic-related analysis.</a:t>
            </a:r>
          </a:p>
          <a:p>
            <a:pPr marL="342900" indent="-342900" defTabSz="4572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Querying and Reporting</a:t>
            </a: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Fact-Dimension Modeling</a:t>
            </a: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enables optimized query performance, allowing for faster retrieval of insights across large datasets.</a:t>
            </a:r>
          </a:p>
          <a:p>
            <a:pPr marL="342900" indent="-342900" defTabSz="4572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Decision-Making</a:t>
            </a: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Empowers traffic authorities with actionable insights into traffic flow, congestion, and incidents.</a:t>
            </a:r>
          </a:p>
          <a:p>
            <a:pPr marL="800100" lvl="1" indent="-342900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Enables proactive traffic management through timely detection of traffic issues and predictive insights into potential risks.</a:t>
            </a:r>
          </a:p>
        </p:txBody>
      </p:sp>
    </p:spTree>
    <p:extLst>
      <p:ext uri="{BB962C8B-B14F-4D97-AF65-F5344CB8AC3E}">
        <p14:creationId xmlns:p14="http://schemas.microsoft.com/office/powerpoint/2010/main" val="1442829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489C7A-56F5-82B9-0E1D-C36533D8A612}"/>
              </a:ext>
            </a:extLst>
          </p:cNvPr>
          <p:cNvSpPr txBox="1">
            <a:spLocks/>
          </p:cNvSpPr>
          <p:nvPr/>
        </p:nvSpPr>
        <p:spPr>
          <a:xfrm>
            <a:off x="5791200" y="190500"/>
            <a:ext cx="602787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ETL Process Overview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B49CA7D-8D4D-1774-204E-6C7FBFF61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95500"/>
            <a:ext cx="5699616" cy="5699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9EED2A-67EC-4FDE-B67E-D82881BBDA59}"/>
              </a:ext>
            </a:extLst>
          </p:cNvPr>
          <p:cNvSpPr txBox="1"/>
          <p:nvPr/>
        </p:nvSpPr>
        <p:spPr>
          <a:xfrm>
            <a:off x="8077200" y="3943171"/>
            <a:ext cx="100178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3000" b="1" dirty="0">
                <a:solidFill>
                  <a:prstClr val="white"/>
                </a:solidFill>
                <a:latin typeface="Tw Cen MT" panose="020B0602020104020603"/>
              </a:rPr>
              <a:t>ETL Objective</a:t>
            </a:r>
            <a:r>
              <a:rPr lang="en-US" sz="3000" dirty="0">
                <a:solidFill>
                  <a:prstClr val="white"/>
                </a:solidFill>
                <a:latin typeface="Tw Cen MT" panose="020B0602020104020603"/>
              </a:rPr>
              <a:t>: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prstClr val="white"/>
                </a:solidFill>
                <a:latin typeface="Tw Cen MT" panose="020B0602020104020603"/>
              </a:rPr>
              <a:t>The ETL process extracts Data from the database in SQL Server and loads it into the data warehouse for analysis and reporting.</a:t>
            </a:r>
          </a:p>
          <a:p>
            <a:pPr defTabSz="457200"/>
            <a:endParaRPr lang="en-US" sz="3000" dirty="0">
              <a:solidFill>
                <a:prstClr val="white"/>
              </a:solidFill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419195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205A04-3013-31B4-43B1-464353D30E96}"/>
              </a:ext>
            </a:extLst>
          </p:cNvPr>
          <p:cNvSpPr txBox="1">
            <a:spLocks/>
          </p:cNvSpPr>
          <p:nvPr/>
        </p:nvSpPr>
        <p:spPr>
          <a:xfrm>
            <a:off x="6324600" y="6016"/>
            <a:ext cx="7075217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Extraction Phase</a:t>
            </a:r>
            <a:endParaRPr kumimoji="0" lang="en-US" sz="3600" b="0" i="0" u="none" strike="noStrike" kern="1200" cap="all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A6AEB89-DDFF-8952-33FF-B09B72783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89" y="2933700"/>
            <a:ext cx="6665249" cy="474653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4DE2ED7-23AB-9CF1-8021-286DF2068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776" y="2933700"/>
            <a:ext cx="10242235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Tool Used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 Python with </a:t>
            </a:r>
            <a:r>
              <a:rPr lang="en-US" altLang="en-US" sz="2700" b="1" dirty="0" err="1">
                <a:solidFill>
                  <a:prstClr val="white"/>
                </a:solidFill>
                <a:latin typeface="Arial" panose="020B0604020202020204" pitchFamily="34" charset="0"/>
              </a:rPr>
              <a:t>PyODBC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 library for SQL Server connectivity.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Source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 The traffic sensor data is extracted from the </a:t>
            </a: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Traffic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 operational database.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Query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SQL query </a:t>
            </a:r>
            <a:r>
              <a:rPr lang="en-US" altLang="en-US" sz="2700" dirty="0">
                <a:solidFill>
                  <a:prstClr val="white"/>
                </a:solidFill>
                <a:latin typeface="Arial Unicode MS"/>
              </a:rPr>
              <a:t>SELECT * FROM </a:t>
            </a:r>
            <a:r>
              <a:rPr lang="en-US" altLang="en-US" sz="2700" dirty="0" err="1">
                <a:solidFill>
                  <a:prstClr val="white"/>
                </a:solidFill>
                <a:latin typeface="Arial Unicode MS"/>
              </a:rPr>
              <a:t>Traffic_Sensors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 is used to retrieve sensor information such as </a:t>
            </a:r>
            <a:r>
              <a:rPr lang="en-US" altLang="en-US" sz="2700" dirty="0" err="1">
                <a:solidFill>
                  <a:prstClr val="white"/>
                </a:solidFill>
                <a:latin typeface="Arial Unicode MS"/>
              </a:rPr>
              <a:t>SensorID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, </a:t>
            </a:r>
            <a:r>
              <a:rPr lang="en-US" altLang="en-US" sz="2700" dirty="0" err="1">
                <a:solidFill>
                  <a:prstClr val="white"/>
                </a:solidFill>
                <a:latin typeface="Arial Unicode MS"/>
              </a:rPr>
              <a:t>RoadwayID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, </a:t>
            </a:r>
            <a:r>
              <a:rPr lang="en-US" altLang="en-US" sz="2700" dirty="0">
                <a:solidFill>
                  <a:prstClr val="white"/>
                </a:solidFill>
                <a:latin typeface="Arial Unicode MS"/>
              </a:rPr>
              <a:t>City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, </a:t>
            </a:r>
            <a:r>
              <a:rPr lang="en-US" altLang="en-US" sz="2700" dirty="0" err="1">
                <a:solidFill>
                  <a:prstClr val="white"/>
                </a:solidFill>
                <a:latin typeface="Arial Unicode MS"/>
              </a:rPr>
              <a:t>SensorType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, and </a:t>
            </a:r>
            <a:r>
              <a:rPr lang="en-US" altLang="en-US" sz="2700" dirty="0">
                <a:solidFill>
                  <a:prstClr val="white"/>
                </a:solidFill>
                <a:latin typeface="Arial Unicode MS"/>
              </a:rPr>
              <a:t>Status</a:t>
            </a:r>
            <a:r>
              <a:rPr lang="en-US" altLang="en-US" sz="2700" dirty="0">
                <a:solidFill>
                  <a:prstClr val="white"/>
                </a:solidFill>
                <a:latin typeface="Tw Cen MT" panose="020B0602020104020603"/>
              </a:rPr>
              <a:t>.</a:t>
            </a:r>
            <a:endParaRPr lang="en-US" altLang="en-US" sz="2700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Extracted data is loaded into a </a:t>
            </a: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Pandas </a:t>
            </a:r>
            <a:r>
              <a:rPr lang="en-US" altLang="en-US" sz="2700" b="1" dirty="0" err="1">
                <a:solidFill>
                  <a:prstClr val="white"/>
                </a:solidFill>
                <a:latin typeface="Arial" panose="020B0604020202020204" pitchFamily="34" charset="0"/>
              </a:rPr>
              <a:t>DataFrame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 for further processing.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54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3FC7C9-57F9-ADB2-4535-693ACDA57B0F}"/>
              </a:ext>
            </a:extLst>
          </p:cNvPr>
          <p:cNvSpPr txBox="1">
            <a:spLocks/>
          </p:cNvSpPr>
          <p:nvPr/>
        </p:nvSpPr>
        <p:spPr>
          <a:xfrm>
            <a:off x="6597809" y="266700"/>
            <a:ext cx="509238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ail"/>
              </a:rPr>
              <a:t>Loading Phase</a:t>
            </a:r>
            <a:b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ail"/>
              </a:rPr>
            </a:br>
            <a:endParaRPr kumimoji="0" lang="en-US" sz="3600" b="0" i="0" u="none" strike="noStrike" kern="1200" cap="all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ail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306D16B-A1DB-DA47-85F2-8324B1AA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6212"/>
            <a:ext cx="6641692" cy="4110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323B08-A9C1-D5E7-FCF0-2B3D94E22F8A}"/>
              </a:ext>
            </a:extLst>
          </p:cNvPr>
          <p:cNvSpPr txBox="1"/>
          <p:nvPr/>
        </p:nvSpPr>
        <p:spPr>
          <a:xfrm>
            <a:off x="9143999" y="2903676"/>
            <a:ext cx="8683558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Font typeface="+mj-lt"/>
              <a:buAutoNum type="arabicPeriod"/>
            </a:pPr>
            <a:endParaRPr lang="en-US" sz="2700" dirty="0">
              <a:solidFill>
                <a:prstClr val="white"/>
              </a:solidFill>
              <a:latin typeface="Tw Cen MT" panose="020B0602020104020603"/>
            </a:endParaRPr>
          </a:p>
          <a:p>
            <a:pPr marL="742950" lvl="1" indent="-285750" defTabSz="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prstClr val="white"/>
                </a:solidFill>
                <a:latin typeface="Tw Cen MT" panose="020B0602020104020603"/>
              </a:rPr>
              <a:t>Destination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: The extracted data is then loaded into the </a:t>
            </a:r>
            <a:r>
              <a:rPr lang="en-US" sz="2700" b="1" dirty="0">
                <a:solidFill>
                  <a:prstClr val="white"/>
                </a:solidFill>
                <a:latin typeface="Tw Cen MT" panose="020B0602020104020603"/>
              </a:rPr>
              <a:t>Traffic Sensors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 table in the data warehouse.</a:t>
            </a:r>
          </a:p>
          <a:p>
            <a:pPr lvl="1" defTabSz="457200"/>
            <a:endParaRPr lang="en-US" sz="2700" dirty="0">
              <a:solidFill>
                <a:prstClr val="white"/>
              </a:solidFill>
              <a:latin typeface="Tw Cen MT" panose="020B0602020104020603"/>
            </a:endParaRPr>
          </a:p>
          <a:p>
            <a:pPr marL="742950" lvl="1" indent="-285750" defTabSz="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prstClr val="white"/>
                </a:solidFill>
                <a:latin typeface="Tw Cen MT" panose="020B0602020104020603"/>
              </a:rPr>
              <a:t>Process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: For each row in the </a:t>
            </a:r>
            <a:r>
              <a:rPr lang="en-US" sz="2700" dirty="0" err="1">
                <a:solidFill>
                  <a:prstClr val="white"/>
                </a:solidFill>
                <a:latin typeface="Tw Cen MT" panose="020B0602020104020603"/>
              </a:rPr>
              <a:t>DataFrame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:</a:t>
            </a:r>
          </a:p>
          <a:p>
            <a:pPr marL="1200150" lvl="2" indent="-285750" defTabSz="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An </a:t>
            </a:r>
            <a:r>
              <a:rPr lang="en-US" sz="2700" b="1" dirty="0">
                <a:solidFill>
                  <a:prstClr val="white"/>
                </a:solidFill>
                <a:latin typeface="Tw Cen MT" panose="020B0602020104020603"/>
              </a:rPr>
              <a:t>INSERT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 query is executed using </a:t>
            </a:r>
            <a:r>
              <a:rPr lang="en-US" sz="2700" dirty="0" err="1">
                <a:solidFill>
                  <a:prstClr val="white"/>
                </a:solidFill>
                <a:latin typeface="Tw Cen MT" panose="020B0602020104020603"/>
              </a:rPr>
              <a:t>PyODBC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 to add sensor data to the warehouse.</a:t>
            </a:r>
          </a:p>
          <a:p>
            <a:pPr lvl="2" defTabSz="457200"/>
            <a:endParaRPr lang="en-US" sz="2700" dirty="0">
              <a:solidFill>
                <a:prstClr val="white"/>
              </a:solidFill>
              <a:latin typeface="Tw Cen MT" panose="020B0602020104020603"/>
            </a:endParaRPr>
          </a:p>
          <a:p>
            <a:pPr marL="742950" lvl="1" indent="-285750" defTabSz="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prstClr val="white"/>
                </a:solidFill>
                <a:latin typeface="Tw Cen MT" panose="020B0602020104020603"/>
              </a:rPr>
              <a:t>Commit and Connection Closure</a:t>
            </a:r>
            <a:r>
              <a:rPr lang="en-US" sz="2700" dirty="0">
                <a:solidFill>
                  <a:prstClr val="white"/>
                </a:solidFill>
                <a:latin typeface="Tw Cen MT" panose="020B0602020104020603"/>
              </a:rPr>
              <a:t>: After each record is inserted, the changes are committed to the warehouse, and the connection is closed.</a:t>
            </a:r>
          </a:p>
        </p:txBody>
      </p:sp>
    </p:spTree>
    <p:extLst>
      <p:ext uri="{BB962C8B-B14F-4D97-AF65-F5344CB8AC3E}">
        <p14:creationId xmlns:p14="http://schemas.microsoft.com/office/powerpoint/2010/main" val="1895794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D25B2DA-6055-DB4E-F2EA-21BEB05B7E15}"/>
              </a:ext>
            </a:extLst>
          </p:cNvPr>
          <p:cNvSpPr txBox="1">
            <a:spLocks/>
          </p:cNvSpPr>
          <p:nvPr/>
        </p:nvSpPr>
        <p:spPr>
          <a:xfrm>
            <a:off x="4619851" y="55140"/>
            <a:ext cx="9048297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Key Benefits of the ETL Process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864E59E-2D67-FC7A-1BC7-3676BF24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086415"/>
            <a:ext cx="9372600" cy="7155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Automation and Efficiency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The process is fully automated, allowing for quick and efficient data transfer from the source to the warehouse without manual intervention.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Consistency in Data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The direct transfer ensures that the sensor data remains consistent between the operational system and the data warehouse, supporting accurate analysis and reporting.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Scalability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The ETL process can be scaled to handle larger datasets or modified to accommodate additional data sources in the future.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b="1" dirty="0">
                <a:solidFill>
                  <a:prstClr val="white"/>
                </a:solidFill>
                <a:latin typeface="Arial" panose="020B0604020202020204" pitchFamily="34" charset="0"/>
              </a:rPr>
              <a:t>Real-time Updates</a:t>
            </a: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700" dirty="0">
                <a:solidFill>
                  <a:prstClr val="white"/>
                </a:solidFill>
                <a:latin typeface="Arial" panose="020B0604020202020204" pitchFamily="34" charset="0"/>
              </a:rPr>
              <a:t>This approach supports near real-time data loading into the warehouse, ensuring the traffic monitoring system has up-to-date information.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9843AA-4B43-5312-F562-FA5AFCCD8C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26007" y="2061881"/>
            <a:ext cx="5977219" cy="59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67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3307" y="5541480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95107" y="-5423646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268302">
            <a:off x="14080274" y="5438774"/>
            <a:ext cx="3714748" cy="3581398"/>
          </a:xfrm>
          <a:custGeom>
            <a:avLst/>
            <a:gdLst/>
            <a:ahLst/>
            <a:cxnLst/>
            <a:rect l="l" t="t" r="r" b="b"/>
            <a:pathLst>
              <a:path w="3714748" h="358139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497" t="-6378" r="-44607" b="-5120"/>
            </a:stretch>
          </a:blipFill>
        </p:spPr>
      </p:sp>
      <p:sp>
        <p:nvSpPr>
          <p:cNvPr id="6" name="Freeform 6"/>
          <p:cNvSpPr/>
          <p:nvPr/>
        </p:nvSpPr>
        <p:spPr>
          <a:xfrm rot="-1406513">
            <a:off x="12894170" y="7303900"/>
            <a:ext cx="2350466" cy="1526454"/>
          </a:xfrm>
          <a:custGeom>
            <a:avLst/>
            <a:gdLst/>
            <a:ahLst/>
            <a:cxnLst/>
            <a:rect l="l" t="t" r="r" b="b"/>
            <a:pathLst>
              <a:path w="2350466" h="1526454">
                <a:moveTo>
                  <a:pt x="0" y="0"/>
                </a:moveTo>
                <a:lnTo>
                  <a:pt x="2350466" y="0"/>
                </a:lnTo>
                <a:lnTo>
                  <a:pt x="2350466" y="1526454"/>
                </a:lnTo>
                <a:lnTo>
                  <a:pt x="0" y="152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19" t="-9509" r="-12210" b="-995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70498" y="503650"/>
            <a:ext cx="3840000" cy="3685452"/>
          </a:xfrm>
          <a:custGeom>
            <a:avLst/>
            <a:gdLst/>
            <a:ahLst/>
            <a:cxnLst/>
            <a:rect l="l" t="t" r="r" b="b"/>
            <a:pathLst>
              <a:path w="3840000" h="3685452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076" t="-8219" r="-46018" b="-6709"/>
            </a:stretch>
          </a:blipFill>
        </p:spPr>
      </p:sp>
      <p:sp>
        <p:nvSpPr>
          <p:cNvPr id="8" name="Freeform 8"/>
          <p:cNvSpPr/>
          <p:nvPr/>
        </p:nvSpPr>
        <p:spPr>
          <a:xfrm rot="1220421">
            <a:off x="9880698" y="1107918"/>
            <a:ext cx="3105150" cy="2781702"/>
          </a:xfrm>
          <a:custGeom>
            <a:avLst/>
            <a:gdLst/>
            <a:ahLst/>
            <a:cxnLst/>
            <a:rect l="l" t="t" r="r" b="b"/>
            <a:pathLst>
              <a:path w="3105150" h="2781702">
                <a:moveTo>
                  <a:pt x="0" y="0"/>
                </a:moveTo>
                <a:lnTo>
                  <a:pt x="3105150" y="0"/>
                </a:lnTo>
                <a:lnTo>
                  <a:pt x="3105150" y="2781702"/>
                </a:lnTo>
                <a:lnTo>
                  <a:pt x="0" y="278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264" r="-3499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7427" y="4123232"/>
            <a:ext cx="11919373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Analysis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16250" y="41657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72994" y="8361039"/>
            <a:ext cx="275515" cy="275499"/>
          </a:xfrm>
          <a:custGeom>
            <a:avLst/>
            <a:gdLst/>
            <a:ahLst/>
            <a:cxnLst/>
            <a:rect l="l" t="t" r="r" b="b"/>
            <a:pathLst>
              <a:path w="275515" h="275499">
                <a:moveTo>
                  <a:pt x="0" y="0"/>
                </a:moveTo>
                <a:lnTo>
                  <a:pt x="275516" y="0"/>
                </a:lnTo>
                <a:lnTo>
                  <a:pt x="275516" y="275500"/>
                </a:lnTo>
                <a:lnTo>
                  <a:pt x="0" y="27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76700" y="2398626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203247">
            <a:off x="3232408" y="7931440"/>
            <a:ext cx="1807330" cy="1707620"/>
          </a:xfrm>
          <a:custGeom>
            <a:avLst/>
            <a:gdLst/>
            <a:ahLst/>
            <a:cxnLst/>
            <a:rect l="l" t="t" r="r" b="b"/>
            <a:pathLst>
              <a:path w="1807330" h="1707620">
                <a:moveTo>
                  <a:pt x="0" y="0"/>
                </a:moveTo>
                <a:lnTo>
                  <a:pt x="1807330" y="0"/>
                </a:lnTo>
                <a:lnTo>
                  <a:pt x="1807330" y="1707620"/>
                </a:lnTo>
                <a:lnTo>
                  <a:pt x="0" y="1707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968" r="-31001"/>
            </a:stretch>
          </a:blipFill>
        </p:spPr>
      </p:sp>
    </p:spTree>
    <p:extLst>
      <p:ext uri="{BB962C8B-B14F-4D97-AF65-F5344CB8AC3E}">
        <p14:creationId xmlns:p14="http://schemas.microsoft.com/office/powerpoint/2010/main" val="3392411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A7CA6-A2DA-7D48-AAEB-E37061301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602200"/>
            <a:ext cx="14706600" cy="62096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34887-7A01-DC2F-9742-F98C7D3E2B81}"/>
              </a:ext>
            </a:extLst>
          </p:cNvPr>
          <p:cNvSpPr txBox="1"/>
          <p:nvPr/>
        </p:nvSpPr>
        <p:spPr>
          <a:xfrm>
            <a:off x="661737" y="6845954"/>
            <a:ext cx="17602200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bar chart shows the trend in traffic incidents over the years. An increase in incidents suggests growing traffic volumes or safety concerns, whereas a decrease indicates possible road safety improvements.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the number of incidents is rising, traffic authorities may need to improve road safety, increase traffic enforcement, or address areas with frequent accidents.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4DE3A-2479-2E00-D7AE-4266F2D9248E}"/>
              </a:ext>
            </a:extLst>
          </p:cNvPr>
          <p:cNvSpPr txBox="1"/>
          <p:nvPr/>
        </p:nvSpPr>
        <p:spPr>
          <a:xfrm>
            <a:off x="5715000" y="0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1: Number of Traffic Incidents by Yea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5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F87AC7-F7EA-42CC-DF28-36C5D7388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753406"/>
            <a:ext cx="13944600" cy="59936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2BCA62-F1B4-DFD7-E2A3-D5D7116E8411}"/>
              </a:ext>
            </a:extLst>
          </p:cNvPr>
          <p:cNvSpPr txBox="1"/>
          <p:nvPr/>
        </p:nvSpPr>
        <p:spPr>
          <a:xfrm>
            <a:off x="1219200" y="6896100"/>
            <a:ext cx="13944600" cy="260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number of incidents varies during different lighting conditions (e.g., daylight, night, dawn). More incidents during poor lighting suggest visibility issues at night.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Improve street lighting in areas where incidents frequently occur at night.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6066B-3CCF-A7C6-DC3A-BEC6FAAF6121}"/>
              </a:ext>
            </a:extLst>
          </p:cNvPr>
          <p:cNvSpPr txBox="1"/>
          <p:nvPr/>
        </p:nvSpPr>
        <p:spPr>
          <a:xfrm>
            <a:off x="6019800" y="41978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2: Incidents by Lighting Condition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41">
            <a:extLst>
              <a:ext uri="{FF2B5EF4-FFF2-40B4-BE49-F238E27FC236}">
                <a16:creationId xmlns:a16="http://schemas.microsoft.com/office/drawing/2014/main" id="{5F8C6D03-706D-571B-D144-E437242B8F07}"/>
              </a:ext>
            </a:extLst>
          </p:cNvPr>
          <p:cNvSpPr/>
          <p:nvPr/>
        </p:nvSpPr>
        <p:spPr>
          <a:xfrm>
            <a:off x="16614445" y="8648700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32110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93E5C8-1231-D347-593B-B459E3ED1F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738" y="952500"/>
            <a:ext cx="15866062" cy="5257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94126F-A565-CC65-9635-255B6CA5316A}"/>
              </a:ext>
            </a:extLst>
          </p:cNvPr>
          <p:cNvSpPr txBox="1"/>
          <p:nvPr/>
        </p:nvSpPr>
        <p:spPr>
          <a:xfrm>
            <a:off x="1066800" y="6591300"/>
            <a:ext cx="16002000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bar chart shows a rise in incidents during poor weather conditions (e.g., rain, fog). This indicates a need for road safety improvements in these conditions.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Introduce driver awareness programs and enhance signage to warn drivers about dangerous driving conditions during adverse weather.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B54AA-B2FE-D539-A412-681C980F8711}"/>
              </a:ext>
            </a:extLst>
          </p:cNvPr>
          <p:cNvSpPr txBox="1"/>
          <p:nvPr/>
        </p:nvSpPr>
        <p:spPr>
          <a:xfrm>
            <a:off x="6096000" y="197622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3: Incidents by Weather Condition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41">
            <a:extLst>
              <a:ext uri="{FF2B5EF4-FFF2-40B4-BE49-F238E27FC236}">
                <a16:creationId xmlns:a16="http://schemas.microsoft.com/office/drawing/2014/main" id="{76C56571-99F6-BDBA-DD23-B1C4688C4753}"/>
              </a:ext>
            </a:extLst>
          </p:cNvPr>
          <p:cNvSpPr/>
          <p:nvPr/>
        </p:nvSpPr>
        <p:spPr>
          <a:xfrm>
            <a:off x="17068800" y="8946892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07525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62C42B-3AA1-9EE5-CD13-F2FD7A8E26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81" y="838200"/>
            <a:ext cx="16611382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1AA77-BB46-2121-2BC9-7F6C7256DB8F}"/>
              </a:ext>
            </a:extLst>
          </p:cNvPr>
          <p:cNvSpPr txBox="1"/>
          <p:nvPr/>
        </p:nvSpPr>
        <p:spPr>
          <a:xfrm>
            <a:off x="1219200" y="6591300"/>
            <a:ext cx="16306800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Incidents based on road characteristics (e.g., straight roads, curves, intersections) show that certain road types may have higher accident rates.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Consider improving road design and signage in high-incident areas, such as marking curves more clearly or redesigning dangerous intersections.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1985C-6795-BC09-F945-CCC9B287AFC8}"/>
              </a:ext>
            </a:extLst>
          </p:cNvPr>
          <p:cNvSpPr txBox="1"/>
          <p:nvPr/>
        </p:nvSpPr>
        <p:spPr>
          <a:xfrm>
            <a:off x="5334000" y="137429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4: Incidents by Road Characteristics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41">
            <a:extLst>
              <a:ext uri="{FF2B5EF4-FFF2-40B4-BE49-F238E27FC236}">
                <a16:creationId xmlns:a16="http://schemas.microsoft.com/office/drawing/2014/main" id="{024A1B6A-63C9-A069-978D-8E59913D7FFA}"/>
              </a:ext>
            </a:extLst>
          </p:cNvPr>
          <p:cNvSpPr/>
          <p:nvPr/>
        </p:nvSpPr>
        <p:spPr>
          <a:xfrm>
            <a:off x="16916400" y="8912096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56032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802FA1-5A40-F7EA-E470-8E8FCC0411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876300"/>
            <a:ext cx="15163800" cy="5718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53E04-8E33-C539-0E4F-A284498925B6}"/>
              </a:ext>
            </a:extLst>
          </p:cNvPr>
          <p:cNvSpPr txBox="1"/>
          <p:nvPr/>
        </p:nvSpPr>
        <p:spPr>
          <a:xfrm>
            <a:off x="914400" y="6717504"/>
            <a:ext cx="16916400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histogram shows the distribution of traffic speeds. Most vehicles travel within a particular speed range, indicating typical traffic flow. Deviations could signal congestion or speeding.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Assess whether speed limits align with actual traffic speeds. If many vehicles exceed the limit, consider stricter enforcement.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A3E56-489A-615F-081F-31F0EBD9A5AA}"/>
              </a:ext>
            </a:extLst>
          </p:cNvPr>
          <p:cNvSpPr txBox="1"/>
          <p:nvPr/>
        </p:nvSpPr>
        <p:spPr>
          <a:xfrm>
            <a:off x="5791200" y="188773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5: Distribution of Average Traffic Speeds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41">
            <a:extLst>
              <a:ext uri="{FF2B5EF4-FFF2-40B4-BE49-F238E27FC236}">
                <a16:creationId xmlns:a16="http://schemas.microsoft.com/office/drawing/2014/main" id="{D15BE32A-854C-878E-F5E7-FFCE9A658EDC}"/>
              </a:ext>
            </a:extLst>
          </p:cNvPr>
          <p:cNvSpPr/>
          <p:nvPr/>
        </p:nvSpPr>
        <p:spPr>
          <a:xfrm>
            <a:off x="16916400" y="8912096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89054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E8D92A-E9E1-353D-2A18-D6EF9F48EA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57300"/>
            <a:ext cx="14401800" cy="5295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51FCFF-C055-BE22-92EC-E238B1705937}"/>
              </a:ext>
            </a:extLst>
          </p:cNvPr>
          <p:cNvSpPr txBox="1"/>
          <p:nvPr/>
        </p:nvSpPr>
        <p:spPr>
          <a:xfrm>
            <a:off x="914400" y="6896100"/>
            <a:ext cx="17068800" cy="260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line chart illustrates the total vehicle count on roads over time. Peaks in traffic volume may correlate with holidays or events.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Prepare for traffic peaks by adjusting signal timings and increasing traffic management during high-volume periods.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80D14-4C9A-587E-31F7-2309B585D633}"/>
              </a:ext>
            </a:extLst>
          </p:cNvPr>
          <p:cNvSpPr txBox="1"/>
          <p:nvPr/>
        </p:nvSpPr>
        <p:spPr>
          <a:xfrm>
            <a:off x="5791200" y="238972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6: Total Vehicle Count Over Time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610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28C4E5-446B-A54D-C117-275B93568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952118"/>
            <a:ext cx="14859000" cy="59928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E2CD2C-282D-ADA8-B956-4EE1A8666740}"/>
              </a:ext>
            </a:extLst>
          </p:cNvPr>
          <p:cNvSpPr txBox="1"/>
          <p:nvPr/>
        </p:nvSpPr>
        <p:spPr>
          <a:xfrm>
            <a:off x="685800" y="6944994"/>
            <a:ext cx="17907000" cy="260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bar chart shows the distribution of traffic sensor statuses (e.g., online, offline). Offline or malfunctioning sensors can lead to inaccurate data, affecting traffic analysis.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Prioritize maintenance and repair of sensors to ensure accurate traffic monitoring.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0551A-FF03-3523-F997-B12CAD0C4CA1}"/>
              </a:ext>
            </a:extLst>
          </p:cNvPr>
          <p:cNvSpPr txBox="1"/>
          <p:nvPr/>
        </p:nvSpPr>
        <p:spPr>
          <a:xfrm>
            <a:off x="6096000" y="135374"/>
            <a:ext cx="92964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7: Traffic Sensor Status Distribution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41">
            <a:extLst>
              <a:ext uri="{FF2B5EF4-FFF2-40B4-BE49-F238E27FC236}">
                <a16:creationId xmlns:a16="http://schemas.microsoft.com/office/drawing/2014/main" id="{376C0B04-D2B6-D50B-0EF5-94FEF030E380}"/>
              </a:ext>
            </a:extLst>
          </p:cNvPr>
          <p:cNvSpPr/>
          <p:nvPr/>
        </p:nvSpPr>
        <p:spPr>
          <a:xfrm>
            <a:off x="16916400" y="8912096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93541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45D82E-1324-4A6B-9D5D-36A9CAEDBD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68751"/>
            <a:ext cx="15087600" cy="5760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2E1E57-BBF0-74B0-9C57-5073BB52C2E5}"/>
              </a:ext>
            </a:extLst>
          </p:cNvPr>
          <p:cNvSpPr txBox="1"/>
          <p:nvPr/>
        </p:nvSpPr>
        <p:spPr>
          <a:xfrm>
            <a:off x="762000" y="6729412"/>
            <a:ext cx="17068800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Interpretation: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stacked bar chart visualizes sensor types (e.g., speed sensors, vehicle counters) across cities. Disparities in sensor distribution can lead to uneven traffic monitoring.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7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Actionable Insight: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7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 additional sensors in cities with high traffic incidents to enhance data collection and improve traffic management.</a:t>
            </a:r>
            <a:endParaRPr lang="en-US" sz="27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994B2-10C3-9F46-9669-18AFF5F5FDDB}"/>
              </a:ext>
            </a:extLst>
          </p:cNvPr>
          <p:cNvSpPr txBox="1"/>
          <p:nvPr/>
        </p:nvSpPr>
        <p:spPr>
          <a:xfrm>
            <a:off x="6477000" y="67064"/>
            <a:ext cx="9144000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 8: Sensor Types Across Cities</a:t>
            </a:r>
            <a:r>
              <a:rPr lang="en-GB" sz="3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41">
            <a:extLst>
              <a:ext uri="{FF2B5EF4-FFF2-40B4-BE49-F238E27FC236}">
                <a16:creationId xmlns:a16="http://schemas.microsoft.com/office/drawing/2014/main" id="{FB0AC6E8-DE61-5866-06D1-7C314C71EAFD}"/>
              </a:ext>
            </a:extLst>
          </p:cNvPr>
          <p:cNvSpPr/>
          <p:nvPr/>
        </p:nvSpPr>
        <p:spPr>
          <a:xfrm>
            <a:off x="16916400" y="8912096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39582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676CB2-7B46-653C-4319-EF70364A9F49}"/>
              </a:ext>
            </a:extLst>
          </p:cNvPr>
          <p:cNvSpPr txBox="1"/>
          <p:nvPr/>
        </p:nvSpPr>
        <p:spPr>
          <a:xfrm>
            <a:off x="990600" y="647700"/>
            <a:ext cx="16611600" cy="8513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5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Summary of Insights:</a:t>
            </a:r>
            <a:endParaRPr lang="en-US" sz="50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5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Traffic Trends:</a:t>
            </a:r>
            <a:r>
              <a:rPr lang="en-GB" sz="35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number of incidents fluctuates over the years, highlighting long-term trends in road safety and areas for improvement.</a:t>
            </a:r>
            <a:endParaRPr lang="en-US" sz="35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5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Environmental Factors:</a:t>
            </a:r>
            <a:r>
              <a:rPr lang="en-GB" sz="35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Poor lighting, adverse weather conditions, and certain road characteristics contribute to more incidents. Safety measures targeting these areas can reduce risks.</a:t>
            </a:r>
            <a:endParaRPr lang="en-US" sz="35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5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Traffic Flow:</a:t>
            </a:r>
            <a:r>
              <a:rPr lang="en-GB" sz="35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Vehicle counts and speed distribution help identify traffic congestion points or speeding hotspots.</a:t>
            </a:r>
            <a:endParaRPr lang="en-US" sz="35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35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Sensor Monitoring:</a:t>
            </a:r>
            <a:r>
              <a:rPr lang="en-GB" sz="35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Regular sensor maintenance and even distribution across cities are vital for effective traffic monitoring.</a:t>
            </a:r>
            <a:endParaRPr lang="en-US" sz="35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41">
            <a:extLst>
              <a:ext uri="{FF2B5EF4-FFF2-40B4-BE49-F238E27FC236}">
                <a16:creationId xmlns:a16="http://schemas.microsoft.com/office/drawing/2014/main" id="{8C2F6630-8E87-D399-BD15-E4FD3AD2356C}"/>
              </a:ext>
            </a:extLst>
          </p:cNvPr>
          <p:cNvSpPr/>
          <p:nvPr/>
        </p:nvSpPr>
        <p:spPr>
          <a:xfrm>
            <a:off x="16916400" y="8912096"/>
            <a:ext cx="908710" cy="1073408"/>
          </a:xfrm>
          <a:custGeom>
            <a:avLst/>
            <a:gdLst/>
            <a:ahLst/>
            <a:cxnLst/>
            <a:rect l="l" t="t" r="r" b="b"/>
            <a:pathLst>
              <a:path w="908710" h="1073408">
                <a:moveTo>
                  <a:pt x="0" y="0"/>
                </a:moveTo>
                <a:lnTo>
                  <a:pt x="908710" y="0"/>
                </a:lnTo>
                <a:lnTo>
                  <a:pt x="908710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9289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3307" y="5541480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95107" y="-5423646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268302">
            <a:off x="14080274" y="5438774"/>
            <a:ext cx="3714748" cy="3581398"/>
          </a:xfrm>
          <a:custGeom>
            <a:avLst/>
            <a:gdLst/>
            <a:ahLst/>
            <a:cxnLst/>
            <a:rect l="l" t="t" r="r" b="b"/>
            <a:pathLst>
              <a:path w="3714748" h="358139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497" t="-6378" r="-44607" b="-5120"/>
            </a:stretch>
          </a:blipFill>
        </p:spPr>
      </p:sp>
      <p:sp>
        <p:nvSpPr>
          <p:cNvPr id="6" name="Freeform 6"/>
          <p:cNvSpPr/>
          <p:nvPr/>
        </p:nvSpPr>
        <p:spPr>
          <a:xfrm rot="-1406513">
            <a:off x="12894170" y="7303900"/>
            <a:ext cx="2350466" cy="1526454"/>
          </a:xfrm>
          <a:custGeom>
            <a:avLst/>
            <a:gdLst/>
            <a:ahLst/>
            <a:cxnLst/>
            <a:rect l="l" t="t" r="r" b="b"/>
            <a:pathLst>
              <a:path w="2350466" h="1526454">
                <a:moveTo>
                  <a:pt x="0" y="0"/>
                </a:moveTo>
                <a:lnTo>
                  <a:pt x="2350466" y="0"/>
                </a:lnTo>
                <a:lnTo>
                  <a:pt x="2350466" y="1526454"/>
                </a:lnTo>
                <a:lnTo>
                  <a:pt x="0" y="152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19" t="-9509" r="-12210" b="-995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70498" y="503650"/>
            <a:ext cx="3840000" cy="3685452"/>
          </a:xfrm>
          <a:custGeom>
            <a:avLst/>
            <a:gdLst/>
            <a:ahLst/>
            <a:cxnLst/>
            <a:rect l="l" t="t" r="r" b="b"/>
            <a:pathLst>
              <a:path w="3840000" h="3685452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076" t="-8219" r="-46018" b="-6709"/>
            </a:stretch>
          </a:blipFill>
        </p:spPr>
      </p:sp>
      <p:sp>
        <p:nvSpPr>
          <p:cNvPr id="8" name="Freeform 8"/>
          <p:cNvSpPr/>
          <p:nvPr/>
        </p:nvSpPr>
        <p:spPr>
          <a:xfrm rot="1220421">
            <a:off x="9880698" y="1107918"/>
            <a:ext cx="3105150" cy="2781702"/>
          </a:xfrm>
          <a:custGeom>
            <a:avLst/>
            <a:gdLst/>
            <a:ahLst/>
            <a:cxnLst/>
            <a:rect l="l" t="t" r="r" b="b"/>
            <a:pathLst>
              <a:path w="3105150" h="2781702">
                <a:moveTo>
                  <a:pt x="0" y="0"/>
                </a:moveTo>
                <a:lnTo>
                  <a:pt x="3105150" y="0"/>
                </a:lnTo>
                <a:lnTo>
                  <a:pt x="3105150" y="2781702"/>
                </a:lnTo>
                <a:lnTo>
                  <a:pt x="0" y="278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264" r="-3499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7427" y="4123232"/>
            <a:ext cx="11919373" cy="2923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Congestion predictive model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16250" y="41657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72994" y="8361039"/>
            <a:ext cx="275515" cy="275499"/>
          </a:xfrm>
          <a:custGeom>
            <a:avLst/>
            <a:gdLst/>
            <a:ahLst/>
            <a:cxnLst/>
            <a:rect l="l" t="t" r="r" b="b"/>
            <a:pathLst>
              <a:path w="275515" h="275499">
                <a:moveTo>
                  <a:pt x="0" y="0"/>
                </a:moveTo>
                <a:lnTo>
                  <a:pt x="275516" y="0"/>
                </a:lnTo>
                <a:lnTo>
                  <a:pt x="275516" y="275500"/>
                </a:lnTo>
                <a:lnTo>
                  <a:pt x="0" y="27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76700" y="2398626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203247">
            <a:off x="3232408" y="7931440"/>
            <a:ext cx="1807330" cy="1707620"/>
          </a:xfrm>
          <a:custGeom>
            <a:avLst/>
            <a:gdLst/>
            <a:ahLst/>
            <a:cxnLst/>
            <a:rect l="l" t="t" r="r" b="b"/>
            <a:pathLst>
              <a:path w="1807330" h="1707620">
                <a:moveTo>
                  <a:pt x="0" y="0"/>
                </a:moveTo>
                <a:lnTo>
                  <a:pt x="1807330" y="0"/>
                </a:lnTo>
                <a:lnTo>
                  <a:pt x="1807330" y="1707620"/>
                </a:lnTo>
                <a:lnTo>
                  <a:pt x="0" y="1707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968" r="-31001"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CF1AE-38FE-4296-F3B5-95AFB7FE5D91}"/>
              </a:ext>
            </a:extLst>
          </p:cNvPr>
          <p:cNvSpPr txBox="1"/>
          <p:nvPr/>
        </p:nvSpPr>
        <p:spPr>
          <a:xfrm>
            <a:off x="914400" y="3619500"/>
            <a:ext cx="13531515" cy="4392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Key Features Used: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Lighting Condition (Daylight, Night)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Weather Condition (Clear, Rainy)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Surface Condition (Dry, Wet)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Road Characteristics (Straight, Curve)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Traffic Speed (mph)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321CE-4A18-A4F3-1F5F-838764211A56}"/>
              </a:ext>
            </a:extLst>
          </p:cNvPr>
          <p:cNvSpPr txBox="1"/>
          <p:nvPr/>
        </p:nvSpPr>
        <p:spPr>
          <a:xfrm>
            <a:off x="1026694" y="1104900"/>
            <a:ext cx="1330692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</a:rPr>
              <a:t>Traffic Congestion Prediction Overview</a:t>
            </a:r>
          </a:p>
          <a:p>
            <a:r>
              <a:rPr lang="en-US" sz="3000" dirty="0">
                <a:solidFill>
                  <a:schemeClr val="bg1"/>
                </a:solidFill>
              </a:rPr>
              <a:t>Project Objective: Predict traffic congestion based on real-time environmental and road conditions using machine learning.</a:t>
            </a:r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DAD05B69-9C7D-9869-173A-2D7298795588}"/>
              </a:ext>
            </a:extLst>
          </p:cNvPr>
          <p:cNvSpPr/>
          <p:nvPr/>
        </p:nvSpPr>
        <p:spPr>
          <a:xfrm>
            <a:off x="16916400" y="8877300"/>
            <a:ext cx="1073348" cy="1012378"/>
          </a:xfrm>
          <a:custGeom>
            <a:avLst/>
            <a:gdLst/>
            <a:ahLst/>
            <a:cxnLst/>
            <a:rect l="l" t="t" r="r" b="b"/>
            <a:pathLst>
              <a:path w="1073348" h="1012378">
                <a:moveTo>
                  <a:pt x="0" y="0"/>
                </a:moveTo>
                <a:lnTo>
                  <a:pt x="1073348" y="0"/>
                </a:lnTo>
                <a:lnTo>
                  <a:pt x="1073348" y="1012378"/>
                </a:lnTo>
                <a:lnTo>
                  <a:pt x="0" y="10123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7A11A-99EE-0078-30EF-157237CD6B9D}"/>
              </a:ext>
            </a:extLst>
          </p:cNvPr>
          <p:cNvSpPr txBox="1"/>
          <p:nvPr/>
        </p:nvSpPr>
        <p:spPr>
          <a:xfrm>
            <a:off x="914400" y="901356"/>
            <a:ext cx="14987338" cy="461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Data Preprocessing: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</a:rPr>
              <a:t>Categorical features are mapped to numerical </a:t>
            </a:r>
            <a:r>
              <a:rPr lang="en-US" sz="4000" dirty="0" err="1">
                <a:solidFill>
                  <a:schemeClr val="bg1"/>
                </a:solidFill>
              </a:rPr>
              <a:t>weights.</a:t>
            </a:r>
            <a:r>
              <a:rPr lang="en-US" sz="4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Missing</a:t>
            </a:r>
            <a:r>
              <a:rPr lang="en-US" sz="4000" dirty="0">
                <a:solidFill>
                  <a:schemeClr val="bg1"/>
                </a:solidFill>
              </a:rPr>
              <a:t> values are handled by default values or removing </a:t>
            </a:r>
            <a:r>
              <a:rPr lang="en-US" sz="4000" dirty="0" err="1">
                <a:solidFill>
                  <a:schemeClr val="bg1"/>
                </a:solidFill>
              </a:rPr>
              <a:t>rows.Congestion</a:t>
            </a:r>
            <a:r>
              <a:rPr lang="en-US" sz="4000" dirty="0">
                <a:solidFill>
                  <a:schemeClr val="bg1"/>
                </a:solidFill>
              </a:rPr>
              <a:t> Score: Calculated based on the sum of weights for different conditions, with low speeds contributing more to congestion</a:t>
            </a: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727A5259-4BA0-BF24-545C-3DA3124FE23C}"/>
              </a:ext>
            </a:extLst>
          </p:cNvPr>
          <p:cNvSpPr/>
          <p:nvPr/>
        </p:nvSpPr>
        <p:spPr>
          <a:xfrm>
            <a:off x="16916400" y="8877300"/>
            <a:ext cx="1073348" cy="1012378"/>
          </a:xfrm>
          <a:custGeom>
            <a:avLst/>
            <a:gdLst/>
            <a:ahLst/>
            <a:cxnLst/>
            <a:rect l="l" t="t" r="r" b="b"/>
            <a:pathLst>
              <a:path w="1073348" h="1012378">
                <a:moveTo>
                  <a:pt x="0" y="0"/>
                </a:moveTo>
                <a:lnTo>
                  <a:pt x="1073348" y="0"/>
                </a:lnTo>
                <a:lnTo>
                  <a:pt x="1073348" y="1012378"/>
                </a:lnTo>
                <a:lnTo>
                  <a:pt x="0" y="10123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11823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7A11A-99EE-0078-30EF-157237CD6B9D}"/>
              </a:ext>
            </a:extLst>
          </p:cNvPr>
          <p:cNvSpPr txBox="1"/>
          <p:nvPr/>
        </p:nvSpPr>
        <p:spPr>
          <a:xfrm>
            <a:off x="4315578" y="266700"/>
            <a:ext cx="14987338" cy="91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Model Development &amp; Predictions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1E642-D303-A778-498F-BAFB105EF487}"/>
              </a:ext>
            </a:extLst>
          </p:cNvPr>
          <p:cNvSpPr txBox="1"/>
          <p:nvPr/>
        </p:nvSpPr>
        <p:spPr>
          <a:xfrm>
            <a:off x="757988" y="1638300"/>
            <a:ext cx="13463337" cy="300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Model Development </a:t>
            </a: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: 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One-hot encoding for categorical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features.Trained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on traffic incident data using a classification model (e.g., Random Forest ).Split into training and test sets to evaluate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678BB-57A7-7B26-E97A-385DB0DBF2AC}"/>
              </a:ext>
            </a:extLst>
          </p:cNvPr>
          <p:cNvSpPr txBox="1"/>
          <p:nvPr/>
        </p:nvSpPr>
        <p:spPr>
          <a:xfrm>
            <a:off x="757988" y="5981700"/>
            <a:ext cx="140248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</a:rPr>
              <a:t>Next Steps : </a:t>
            </a:r>
            <a:r>
              <a:rPr lang="en-US" sz="4500" dirty="0">
                <a:solidFill>
                  <a:schemeClr val="bg1"/>
                </a:solidFill>
              </a:rPr>
              <a:t>I </a:t>
            </a:r>
            <a:r>
              <a:rPr lang="en-US" sz="4500" dirty="0" err="1">
                <a:solidFill>
                  <a:schemeClr val="bg1"/>
                </a:solidFill>
              </a:rPr>
              <a:t>ntegrate</a:t>
            </a:r>
            <a:r>
              <a:rPr lang="en-US" sz="4500" dirty="0">
                <a:solidFill>
                  <a:schemeClr val="bg1"/>
                </a:solidFill>
              </a:rPr>
              <a:t> with real-time data sources and deploy on Azure for live traffic monitoring</a:t>
            </a:r>
          </a:p>
        </p:txBody>
      </p:sp>
      <p:sp>
        <p:nvSpPr>
          <p:cNvPr id="8" name="Freeform 30">
            <a:extLst>
              <a:ext uri="{FF2B5EF4-FFF2-40B4-BE49-F238E27FC236}">
                <a16:creationId xmlns:a16="http://schemas.microsoft.com/office/drawing/2014/main" id="{13119282-DD9F-ACFA-8F8E-7FD6497A4C3E}"/>
              </a:ext>
            </a:extLst>
          </p:cNvPr>
          <p:cNvSpPr/>
          <p:nvPr/>
        </p:nvSpPr>
        <p:spPr>
          <a:xfrm>
            <a:off x="16611600" y="8877300"/>
            <a:ext cx="1073410" cy="783928"/>
          </a:xfrm>
          <a:custGeom>
            <a:avLst/>
            <a:gdLst/>
            <a:ahLst/>
            <a:cxnLst/>
            <a:rect l="l" t="t" r="r" b="b"/>
            <a:pathLst>
              <a:path w="1073410" h="783928">
                <a:moveTo>
                  <a:pt x="0" y="0"/>
                </a:moveTo>
                <a:lnTo>
                  <a:pt x="1073410" y="0"/>
                </a:lnTo>
                <a:lnTo>
                  <a:pt x="1073410" y="783928"/>
                </a:lnTo>
                <a:lnTo>
                  <a:pt x="0" y="7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70113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68363" y="-1023983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F47091-0EE6-4B9A-B0BF-04552E8D4B9B}"/>
              </a:ext>
            </a:extLst>
          </p:cNvPr>
          <p:cNvSpPr/>
          <p:nvPr/>
        </p:nvSpPr>
        <p:spPr>
          <a:xfrm>
            <a:off x="16872117" y="8602585"/>
            <a:ext cx="937628" cy="1073290"/>
          </a:xfrm>
          <a:custGeom>
            <a:avLst/>
            <a:gdLst/>
            <a:ahLst/>
            <a:cxnLst/>
            <a:rect l="l" t="t" r="r" b="b"/>
            <a:pathLst>
              <a:path w="937628" h="1073290">
                <a:moveTo>
                  <a:pt x="0" y="0"/>
                </a:moveTo>
                <a:lnTo>
                  <a:pt x="937628" y="0"/>
                </a:lnTo>
                <a:lnTo>
                  <a:pt x="937628" y="1073290"/>
                </a:lnTo>
                <a:lnTo>
                  <a:pt x="0" y="1073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4" name="WhatsApp Video 2024-10-17 at 6.13.09 PM">
            <a:hlinkClick r:id="" action="ppaction://media"/>
            <a:extLst>
              <a:ext uri="{FF2B5EF4-FFF2-40B4-BE49-F238E27FC236}">
                <a16:creationId xmlns:a16="http://schemas.microsoft.com/office/drawing/2014/main" id="{79E9A13B-664C-2CBB-3AF0-B9C0B473B9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33400" y="419100"/>
            <a:ext cx="16687800" cy="886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B5BA-5C06-86E8-EF20-D34C6E9D06E1}"/>
              </a:ext>
            </a:extLst>
          </p:cNvPr>
          <p:cNvSpPr txBox="1"/>
          <p:nvPr/>
        </p:nvSpPr>
        <p:spPr>
          <a:xfrm>
            <a:off x="687931" y="1704643"/>
            <a:ext cx="14401800" cy="26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SQL Database Design &amp; Data Management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Learned to design and manage traffic data using SQL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databases.Developed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skills in querying and summarizing traffic data, improving my database management proficiency.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9C73E9-3CE6-7646-D7CF-C2741E78333C}"/>
              </a:ext>
            </a:extLst>
          </p:cNvPr>
          <p:cNvSpPr txBox="1"/>
          <p:nvPr/>
        </p:nvSpPr>
        <p:spPr>
          <a:xfrm>
            <a:off x="581525" y="402012"/>
            <a:ext cx="13639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Conclusion: Real-Time Traffic Monitoring and Analysis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5DDC3-D549-14CB-A4F0-4B785DBEE27F}"/>
              </a:ext>
            </a:extLst>
          </p:cNvPr>
          <p:cNvSpPr txBox="1"/>
          <p:nvPr/>
        </p:nvSpPr>
        <p:spPr>
          <a:xfrm>
            <a:off x="838200" y="5600700"/>
            <a:ext cx="16130337" cy="26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2. Data Warehousing &amp; Python Integration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Gained experience in setting up a data warehouse for handling large-scale traffic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data.Improved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knowledge of ETL processes and Python scripting for data extraction and preprocessing.</a:t>
            </a:r>
          </a:p>
        </p:txBody>
      </p:sp>
      <p:sp>
        <p:nvSpPr>
          <p:cNvPr id="12" name="Freeform 30">
            <a:extLst>
              <a:ext uri="{FF2B5EF4-FFF2-40B4-BE49-F238E27FC236}">
                <a16:creationId xmlns:a16="http://schemas.microsoft.com/office/drawing/2014/main" id="{D098E782-A7BA-4C0D-DA9C-8394EB61B0F4}"/>
              </a:ext>
            </a:extLst>
          </p:cNvPr>
          <p:cNvSpPr/>
          <p:nvPr/>
        </p:nvSpPr>
        <p:spPr>
          <a:xfrm>
            <a:off x="16738057" y="8953500"/>
            <a:ext cx="1073410" cy="783928"/>
          </a:xfrm>
          <a:custGeom>
            <a:avLst/>
            <a:gdLst/>
            <a:ahLst/>
            <a:cxnLst/>
            <a:rect l="l" t="t" r="r" b="b"/>
            <a:pathLst>
              <a:path w="1073410" h="783928">
                <a:moveTo>
                  <a:pt x="0" y="0"/>
                </a:moveTo>
                <a:lnTo>
                  <a:pt x="1073410" y="0"/>
                </a:lnTo>
                <a:lnTo>
                  <a:pt x="1073410" y="783928"/>
                </a:lnTo>
                <a:lnTo>
                  <a:pt x="0" y="7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58832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0B885-720C-44C3-6975-96D27DDCAAF0}"/>
              </a:ext>
            </a:extLst>
          </p:cNvPr>
          <p:cNvSpPr txBox="1"/>
          <p:nvPr/>
        </p:nvSpPr>
        <p:spPr>
          <a:xfrm>
            <a:off x="685800" y="876300"/>
            <a:ext cx="14911137" cy="26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3. Traffic Analysis &amp; Predictive Modeling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Strengthened my ability to analyze traffic data for patterns in congestion and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incidents.Developed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a predictive model for traffic congestion, enhancing my skills in machine learning.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5633A-0D00-E0C5-D0C9-316BCE5BF052}"/>
              </a:ext>
            </a:extLst>
          </p:cNvPr>
          <p:cNvSpPr txBox="1"/>
          <p:nvPr/>
        </p:nvSpPr>
        <p:spPr>
          <a:xfrm>
            <a:off x="838200" y="4381500"/>
            <a:ext cx="11405937" cy="300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4. Cloud Services &amp; Scalable Solutions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Learned to integrate Azure Data Services for scalable analysis and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storage.Gained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valuable insights into deploying models on the cloud for real-time analysis.</a:t>
            </a:r>
          </a:p>
        </p:txBody>
      </p:sp>
      <p:sp>
        <p:nvSpPr>
          <p:cNvPr id="8" name="Freeform 30">
            <a:extLst>
              <a:ext uri="{FF2B5EF4-FFF2-40B4-BE49-F238E27FC236}">
                <a16:creationId xmlns:a16="http://schemas.microsoft.com/office/drawing/2014/main" id="{458517E7-C6F0-5F3D-788D-D28675675124}"/>
              </a:ext>
            </a:extLst>
          </p:cNvPr>
          <p:cNvSpPr/>
          <p:nvPr/>
        </p:nvSpPr>
        <p:spPr>
          <a:xfrm>
            <a:off x="16730036" y="8877300"/>
            <a:ext cx="1073410" cy="783928"/>
          </a:xfrm>
          <a:custGeom>
            <a:avLst/>
            <a:gdLst/>
            <a:ahLst/>
            <a:cxnLst/>
            <a:rect l="l" t="t" r="r" b="b"/>
            <a:pathLst>
              <a:path w="1073410" h="783928">
                <a:moveTo>
                  <a:pt x="0" y="0"/>
                </a:moveTo>
                <a:lnTo>
                  <a:pt x="1073410" y="0"/>
                </a:lnTo>
                <a:lnTo>
                  <a:pt x="1073410" y="783928"/>
                </a:lnTo>
                <a:lnTo>
                  <a:pt x="0" y="7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58794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21325" y="-571500"/>
            <a:ext cx="5081591" cy="3779642"/>
          </a:xfrm>
          <a:custGeom>
            <a:avLst/>
            <a:gdLst/>
            <a:ahLst/>
            <a:cxnLst/>
            <a:rect l="l" t="t" r="r" b="b"/>
            <a:pathLst>
              <a:path w="5081591" h="3779642">
                <a:moveTo>
                  <a:pt x="0" y="0"/>
                </a:moveTo>
                <a:lnTo>
                  <a:pt x="5081591" y="0"/>
                </a:lnTo>
                <a:lnTo>
                  <a:pt x="5081591" y="3779641"/>
                </a:lnTo>
                <a:lnTo>
                  <a:pt x="0" y="3779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C7C18-25F3-6A93-3EA6-317A60E53A4F}"/>
              </a:ext>
            </a:extLst>
          </p:cNvPr>
          <p:cNvSpPr txBox="1"/>
          <p:nvPr/>
        </p:nvSpPr>
        <p:spPr>
          <a:xfrm>
            <a:off x="1066800" y="1181100"/>
            <a:ext cx="12396537" cy="269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5. </a:t>
            </a:r>
            <a:r>
              <a:rPr lang="en-US" sz="4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MLOps</a:t>
            </a:r>
            <a:r>
              <a:rPr lang="en-US" sz="4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&amp; Model Deployment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Built practical experience in using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MLflow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for model tracking and </a:t>
            </a:r>
            <a:r>
              <a:rPr lang="en-US" sz="3000" dirty="0" err="1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management.Successfully</a:t>
            </a:r>
            <a:r>
              <a:rPr lang="en-US" sz="3000" dirty="0">
                <a:solidFill>
                  <a:schemeClr val="bg1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deployed a traffic analysis model using Flask, providing real-time insights</a:t>
            </a:r>
          </a:p>
        </p:txBody>
      </p:sp>
      <p:sp>
        <p:nvSpPr>
          <p:cNvPr id="5" name="Freeform 30">
            <a:extLst>
              <a:ext uri="{FF2B5EF4-FFF2-40B4-BE49-F238E27FC236}">
                <a16:creationId xmlns:a16="http://schemas.microsoft.com/office/drawing/2014/main" id="{8C6CE5CE-682F-4D1B-5738-632EC82CF8DE}"/>
              </a:ext>
            </a:extLst>
          </p:cNvPr>
          <p:cNvSpPr/>
          <p:nvPr/>
        </p:nvSpPr>
        <p:spPr>
          <a:xfrm>
            <a:off x="16611600" y="8877300"/>
            <a:ext cx="1073410" cy="783928"/>
          </a:xfrm>
          <a:custGeom>
            <a:avLst/>
            <a:gdLst/>
            <a:ahLst/>
            <a:cxnLst/>
            <a:rect l="l" t="t" r="r" b="b"/>
            <a:pathLst>
              <a:path w="1073410" h="783928">
                <a:moveTo>
                  <a:pt x="0" y="0"/>
                </a:moveTo>
                <a:lnTo>
                  <a:pt x="1073410" y="0"/>
                </a:lnTo>
                <a:lnTo>
                  <a:pt x="1073410" y="783928"/>
                </a:lnTo>
                <a:lnTo>
                  <a:pt x="0" y="7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54975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737507" y="2163980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097543" y="-1909346"/>
            <a:ext cx="10088672" cy="8242772"/>
          </a:xfrm>
          <a:custGeom>
            <a:avLst/>
            <a:gdLst/>
            <a:ahLst/>
            <a:cxnLst/>
            <a:rect l="l" t="t" r="r" b="b"/>
            <a:pathLst>
              <a:path w="10088672" h="8242772">
                <a:moveTo>
                  <a:pt x="0" y="0"/>
                </a:moveTo>
                <a:lnTo>
                  <a:pt x="10088672" y="0"/>
                </a:lnTo>
                <a:lnTo>
                  <a:pt x="10088672" y="8242771"/>
                </a:lnTo>
                <a:lnTo>
                  <a:pt x="0" y="824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19544" y="3768684"/>
            <a:ext cx="8713350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sz="13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THANKS!</a:t>
            </a:r>
          </a:p>
        </p:txBody>
      </p:sp>
      <p:sp>
        <p:nvSpPr>
          <p:cNvPr id="20" name="Freeform 20"/>
          <p:cNvSpPr/>
          <p:nvPr/>
        </p:nvSpPr>
        <p:spPr>
          <a:xfrm rot="2268302">
            <a:off x="408074" y="4379774"/>
            <a:ext cx="3714748" cy="3581398"/>
          </a:xfrm>
          <a:custGeom>
            <a:avLst/>
            <a:gdLst/>
            <a:ahLst/>
            <a:cxnLst/>
            <a:rect l="l" t="t" r="r" b="b"/>
            <a:pathLst>
              <a:path w="3714748" h="3581398">
                <a:moveTo>
                  <a:pt x="0" y="0"/>
                </a:moveTo>
                <a:lnTo>
                  <a:pt x="3714748" y="0"/>
                </a:lnTo>
                <a:lnTo>
                  <a:pt x="3714748" y="3581398"/>
                </a:lnTo>
                <a:lnTo>
                  <a:pt x="0" y="3581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497" t="-6378" r="-44607" b="-5120"/>
            </a:stretch>
          </a:blipFill>
        </p:spPr>
      </p:sp>
      <p:sp>
        <p:nvSpPr>
          <p:cNvPr id="21" name="Freeform 21"/>
          <p:cNvSpPr/>
          <p:nvPr/>
        </p:nvSpPr>
        <p:spPr>
          <a:xfrm rot="-1406513">
            <a:off x="2198620" y="1102500"/>
            <a:ext cx="2350466" cy="1526454"/>
          </a:xfrm>
          <a:custGeom>
            <a:avLst/>
            <a:gdLst/>
            <a:ahLst/>
            <a:cxnLst/>
            <a:rect l="l" t="t" r="r" b="b"/>
            <a:pathLst>
              <a:path w="2350466" h="1526454">
                <a:moveTo>
                  <a:pt x="0" y="0"/>
                </a:moveTo>
                <a:lnTo>
                  <a:pt x="2350466" y="0"/>
                </a:lnTo>
                <a:lnTo>
                  <a:pt x="2350466" y="1526454"/>
                </a:lnTo>
                <a:lnTo>
                  <a:pt x="0" y="152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19" t="-9509" r="-12210" b="-9958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851198" y="1510450"/>
            <a:ext cx="3840000" cy="3685452"/>
          </a:xfrm>
          <a:custGeom>
            <a:avLst/>
            <a:gdLst/>
            <a:ahLst/>
            <a:cxnLst/>
            <a:rect l="l" t="t" r="r" b="b"/>
            <a:pathLst>
              <a:path w="3840000" h="3685452">
                <a:moveTo>
                  <a:pt x="0" y="0"/>
                </a:moveTo>
                <a:lnTo>
                  <a:pt x="3840000" y="0"/>
                </a:lnTo>
                <a:lnTo>
                  <a:pt x="3840000" y="3685452"/>
                </a:lnTo>
                <a:lnTo>
                  <a:pt x="0" y="368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076" t="-8219" r="-46018" b="-6709"/>
            </a:stretch>
          </a:blipFill>
        </p:spPr>
      </p:sp>
      <p:sp>
        <p:nvSpPr>
          <p:cNvPr id="23" name="Freeform 23"/>
          <p:cNvSpPr/>
          <p:nvPr/>
        </p:nvSpPr>
        <p:spPr>
          <a:xfrm rot="1220421">
            <a:off x="13369748" y="4070018"/>
            <a:ext cx="3105150" cy="2781702"/>
          </a:xfrm>
          <a:custGeom>
            <a:avLst/>
            <a:gdLst/>
            <a:ahLst/>
            <a:cxnLst/>
            <a:rect l="l" t="t" r="r" b="b"/>
            <a:pathLst>
              <a:path w="3105150" h="2781702">
                <a:moveTo>
                  <a:pt x="0" y="0"/>
                </a:moveTo>
                <a:lnTo>
                  <a:pt x="3105150" y="0"/>
                </a:lnTo>
                <a:lnTo>
                  <a:pt x="3105150" y="2781702"/>
                </a:lnTo>
                <a:lnTo>
                  <a:pt x="0" y="278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264" r="-34994"/>
            </a:stretch>
          </a:blipFill>
        </p:spPr>
      </p:sp>
      <p:sp>
        <p:nvSpPr>
          <p:cNvPr id="24" name="Freeform 24"/>
          <p:cNvSpPr/>
          <p:nvPr/>
        </p:nvSpPr>
        <p:spPr>
          <a:xfrm rot="-1592621">
            <a:off x="2946960" y="5316666"/>
            <a:ext cx="1807326" cy="1707624"/>
          </a:xfrm>
          <a:custGeom>
            <a:avLst/>
            <a:gdLst/>
            <a:ahLst/>
            <a:cxnLst/>
            <a:rect l="l" t="t" r="r" b="b"/>
            <a:pathLst>
              <a:path w="1807326" h="1707624">
                <a:moveTo>
                  <a:pt x="0" y="0"/>
                </a:moveTo>
                <a:lnTo>
                  <a:pt x="1807326" y="0"/>
                </a:lnTo>
                <a:lnTo>
                  <a:pt x="1807326" y="1707624"/>
                </a:lnTo>
                <a:lnTo>
                  <a:pt x="0" y="17076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968" r="-31001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760600" y="1218250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738944" y="8151489"/>
            <a:ext cx="275515" cy="275499"/>
          </a:xfrm>
          <a:custGeom>
            <a:avLst/>
            <a:gdLst/>
            <a:ahLst/>
            <a:cxnLst/>
            <a:rect l="l" t="t" r="r" b="b"/>
            <a:pathLst>
              <a:path w="275515" h="275499">
                <a:moveTo>
                  <a:pt x="0" y="0"/>
                </a:moveTo>
                <a:lnTo>
                  <a:pt x="275516" y="0"/>
                </a:lnTo>
                <a:lnTo>
                  <a:pt x="275516" y="275500"/>
                </a:lnTo>
                <a:lnTo>
                  <a:pt x="0" y="275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259600" y="3840376"/>
            <a:ext cx="200350" cy="200300"/>
          </a:xfrm>
          <a:custGeom>
            <a:avLst/>
            <a:gdLst/>
            <a:ahLst/>
            <a:cxnLst/>
            <a:rect l="l" t="t" r="r" b="b"/>
            <a:pathLst>
              <a:path w="200350" h="200300">
                <a:moveTo>
                  <a:pt x="0" y="0"/>
                </a:moveTo>
                <a:lnTo>
                  <a:pt x="200350" y="0"/>
                </a:lnTo>
                <a:lnTo>
                  <a:pt x="200350" y="200300"/>
                </a:lnTo>
                <a:lnTo>
                  <a:pt x="0" y="2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8031</TotalTime>
  <Words>1629</Words>
  <Application>Microsoft Office PowerPoint</Application>
  <PresentationFormat>Custom</PresentationFormat>
  <Paragraphs>213</Paragraphs>
  <Slides>38</Slides>
  <Notes>38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Arial Black</vt:lpstr>
      <vt:lpstr>Symbol</vt:lpstr>
      <vt:lpstr>Arial Bold</vt:lpstr>
      <vt:lpstr>Courier New</vt:lpstr>
      <vt:lpstr>Arail</vt:lpstr>
      <vt:lpstr>Arial</vt:lpstr>
      <vt:lpstr>Tw Cen MT</vt:lpstr>
      <vt:lpstr>Calibri</vt:lpstr>
      <vt:lpstr>Archivo Black</vt:lpstr>
      <vt:lpstr>Britannic Bold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(AI) Technology Project Proposal _ by Slidesgo.pptx</dc:title>
  <dc:creator>Maged_</dc:creator>
  <cp:lastModifiedBy>Maged Mousa</cp:lastModifiedBy>
  <cp:revision>7</cp:revision>
  <dcterms:created xsi:type="dcterms:W3CDTF">2006-08-16T00:00:00Z</dcterms:created>
  <dcterms:modified xsi:type="dcterms:W3CDTF">2024-10-18T08:39:53Z</dcterms:modified>
  <dc:identifier>DAGSnpGZyQc</dc:identifier>
</cp:coreProperties>
</file>